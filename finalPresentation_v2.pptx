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77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02512" y="365627"/>
            <a:ext cx="46040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POKÉMON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02512" y="12059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236969" y="2433498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636" y="26548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for Pokémon Battles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5636" y="3229985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Dustin Boston   ·   Jonathan Navarro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2512" y="372492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2512" y="372492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poke-env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47848" y="372492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C05808"/>
          </a:solidFill>
          <a:ln w="12700">
            <a:solidFill>
              <a:srgbClr val="C058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47848" y="372492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MaskablePPO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2512" y="428727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2512" y="428727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</a:t>
            </a:r>
            <a:endParaRPr lang="en-US" sz="110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6CFB64EE-2B46-D369-C664-B3979FD22169}"/>
              </a:ext>
            </a:extLst>
          </p:cNvPr>
          <p:cNvSpPr/>
          <p:nvPr/>
        </p:nvSpPr>
        <p:spPr>
          <a:xfrm>
            <a:off x="4067556" y="-2231136"/>
            <a:ext cx="8229600" cy="82296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58A35CB9-3E28-CB7F-722D-FC4FB69CF99A}"/>
              </a:ext>
            </a:extLst>
          </p:cNvPr>
          <p:cNvSpPr/>
          <p:nvPr/>
        </p:nvSpPr>
        <p:spPr>
          <a:xfrm>
            <a:off x="4067556" y="1886745"/>
            <a:ext cx="8229600" cy="201168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5B82028C-B02F-2106-0087-D225F51289FB}"/>
              </a:ext>
            </a:extLst>
          </p:cNvPr>
          <p:cNvSpPr/>
          <p:nvPr/>
        </p:nvSpPr>
        <p:spPr>
          <a:xfrm>
            <a:off x="6789234" y="822827"/>
            <a:ext cx="2558995" cy="251473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F32E8E0-1B8E-39FB-500F-7B2D005ADDEB}"/>
              </a:ext>
            </a:extLst>
          </p:cNvPr>
          <p:cNvSpPr/>
          <p:nvPr/>
        </p:nvSpPr>
        <p:spPr>
          <a:xfrm>
            <a:off x="6986607" y="1053084"/>
            <a:ext cx="2164247" cy="2069659"/>
          </a:xfrm>
          <a:prstGeom prst="ellipse">
            <a:avLst/>
          </a:prstGeom>
          <a:solidFill>
            <a:schemeClr val="tx1"/>
          </a:solidFill>
          <a:ln w="254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25838F77-F6E8-EB28-B378-31CDCF7EF802}"/>
              </a:ext>
            </a:extLst>
          </p:cNvPr>
          <p:cNvSpPr/>
          <p:nvPr/>
        </p:nvSpPr>
        <p:spPr>
          <a:xfrm>
            <a:off x="7230429" y="1280358"/>
            <a:ext cx="1676602" cy="16200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001472" y="395433"/>
            <a:ext cx="3703319" cy="3531915"/>
          </a:xfrm>
          <a:prstGeom prst="ellipse">
            <a:avLst/>
          </a:prstGeom>
          <a:solidFill>
            <a:srgbClr val="C00000"/>
          </a:solidFill>
          <a:ln w="25400">
            <a:solidFill>
              <a:srgbClr val="EBEBF3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C1C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Game &amp; The Simulator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Pokémon?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10896" y="1509522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" y="142646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Turn-based 1v1 battles between trainers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0896" y="2173224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" y="208483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turn: use a move OR switch Pokémon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" y="286359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" y="274320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have types, power, and limited PP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20040" y="350748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" y="340156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faint all opponent Pokémon to win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20040" y="4151376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" y="405993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tactics (damage) and strategy (tempo)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9050">
            <a:solidFill>
              <a:srgbClr val="E0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79392" y="69342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Pokémon Showdown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434840" y="4082796"/>
            <a:ext cx="201168" cy="201168"/>
          </a:xfrm>
          <a:prstGeom prst="ellipse">
            <a:avLst/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40554" y="40233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as a Node.js server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434840" y="4448556"/>
            <a:ext cx="201168" cy="201168"/>
          </a:xfrm>
          <a:prstGeom prst="ellipse">
            <a:avLst/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54880" y="44119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repeatable simulation for training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434840" y="4814316"/>
            <a:ext cx="201168" cy="201168"/>
          </a:xfrm>
          <a:prstGeom prst="ellipse">
            <a:avLst/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54880" y="474116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enables human vs bot demos</a:t>
            </a:r>
            <a:endParaRPr lang="en-US" sz="1200" dirty="0"/>
          </a:p>
        </p:txBody>
      </p:sp>
      <p:sp>
        <p:nvSpPr>
          <p:cNvPr id="2" name="Shape 16">
            <a:extLst>
              <a:ext uri="{FF2B5EF4-FFF2-40B4-BE49-F238E27FC236}">
                <a16:creationId xmlns:a16="http://schemas.microsoft.com/office/drawing/2014/main" id="{5BC1D0F0-CDCF-1412-6155-9999E6A0A4A3}"/>
              </a:ext>
            </a:extLst>
          </p:cNvPr>
          <p:cNvSpPr/>
          <p:nvPr/>
        </p:nvSpPr>
        <p:spPr>
          <a:xfrm>
            <a:off x="4221049" y="1191768"/>
            <a:ext cx="4206240" cy="0"/>
          </a:xfrm>
          <a:prstGeom prst="line">
            <a:avLst/>
          </a:prstGeom>
          <a:noFill/>
          <a:ln w="25400">
            <a:solidFill>
              <a:srgbClr val="E8B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654C06B-F94C-7985-C16C-B62B9547FAD0}"/>
              </a:ext>
            </a:extLst>
          </p:cNvPr>
          <p:cNvSpPr/>
          <p:nvPr/>
        </p:nvSpPr>
        <p:spPr>
          <a:xfrm>
            <a:off x="4221049" y="3831426"/>
            <a:ext cx="4206240" cy="0"/>
          </a:xfrm>
          <a:prstGeom prst="line">
            <a:avLst/>
          </a:prstGeom>
          <a:noFill/>
          <a:ln w="25400">
            <a:solidFill>
              <a:srgbClr val="E8B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8C4315F5-293B-812D-777B-956E7C14C5C5}"/>
              </a:ext>
            </a:extLst>
          </p:cNvPr>
          <p:cNvSpPr/>
          <p:nvPr/>
        </p:nvSpPr>
        <p:spPr>
          <a:xfrm>
            <a:off x="4221049" y="1191769"/>
            <a:ext cx="0" cy="2639658"/>
          </a:xfrm>
          <a:prstGeom prst="line">
            <a:avLst/>
          </a:prstGeom>
          <a:noFill/>
          <a:ln w="25400">
            <a:solidFill>
              <a:srgbClr val="E8B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85201F89-FD66-212A-7324-3A60E123DAC9}"/>
              </a:ext>
            </a:extLst>
          </p:cNvPr>
          <p:cNvSpPr/>
          <p:nvPr/>
        </p:nvSpPr>
        <p:spPr>
          <a:xfrm>
            <a:off x="8427288" y="1191768"/>
            <a:ext cx="16586" cy="2639658"/>
          </a:xfrm>
          <a:prstGeom prst="line">
            <a:avLst/>
          </a:prstGeom>
          <a:noFill/>
          <a:ln w="25400">
            <a:solidFill>
              <a:srgbClr val="E8B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6AF709-A9BF-70BB-4D91-0DE92248D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505" y="1450782"/>
            <a:ext cx="3797791" cy="21362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-2194560"/>
            <a:ext cx="8229600" cy="82296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0" y="1883664"/>
            <a:ext cx="8229600" cy="201168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041542" y="831971"/>
            <a:ext cx="2558995" cy="251473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Reinforcemet</a:t>
            </a:r>
            <a:endParaRPr lang="en-US" sz="3600" dirty="0"/>
          </a:p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and error: the agent takes actions,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rewards and improves over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3657600" cy="8686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E8B8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818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715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Pokémon Bot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1638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Action (move / switch)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316382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1A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State + Reward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3657600" cy="868680"/>
          </a:xfrm>
          <a:prstGeom prst="rect">
            <a:avLst/>
          </a:prstGeom>
          <a:solidFill>
            <a:srgbClr val="222232"/>
          </a:solidFill>
          <a:ln w="19050">
            <a:solidFill>
              <a:srgbClr val="CC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36576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" y="4087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Battle</a:t>
            </a:r>
            <a:endParaRPr lang="en-US" sz="1200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4A5A1F4B-D9E1-4C11-C393-FCFA5699128A}"/>
              </a:ext>
            </a:extLst>
          </p:cNvPr>
          <p:cNvSpPr/>
          <p:nvPr/>
        </p:nvSpPr>
        <p:spPr>
          <a:xfrm>
            <a:off x="7238913" y="1050002"/>
            <a:ext cx="2164247" cy="2069659"/>
          </a:xfrm>
          <a:prstGeom prst="ellipse">
            <a:avLst/>
          </a:prstGeom>
          <a:solidFill>
            <a:schemeClr val="tx1"/>
          </a:solidFill>
          <a:ln w="254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6EB81451-8D01-5CD9-A48F-E1D17C6CF43D}"/>
              </a:ext>
            </a:extLst>
          </p:cNvPr>
          <p:cNvSpPr/>
          <p:nvPr/>
        </p:nvSpPr>
        <p:spPr>
          <a:xfrm>
            <a:off x="7482735" y="1280358"/>
            <a:ext cx="1676602" cy="16200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C1C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Frame the Problem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39" y="868680"/>
            <a:ext cx="2787169" cy="1874520"/>
          </a:xfrm>
          <a:prstGeom prst="rect">
            <a:avLst/>
          </a:prstGeom>
          <a:solidFill>
            <a:schemeClr val="bg2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64008" cy="1874520"/>
          </a:xfrm>
          <a:prstGeom prst="rect">
            <a:avLst/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0241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B4C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839-dim numeric vector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the full battle state: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HP, moves, status, field effects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93527" y="873252"/>
            <a:ext cx="2894789" cy="1874520"/>
          </a:xfrm>
          <a:prstGeom prst="rect">
            <a:avLst/>
          </a:prstGeom>
          <a:solidFill>
            <a:schemeClr val="bg2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93527" y="873252"/>
            <a:ext cx="64008" cy="18745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11947" y="9738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65966" y="1472184"/>
            <a:ext cx="249375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choices per turn: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moves + 6 switches + 1 default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so only legal moves are picked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2787169" cy="1874520"/>
          </a:xfrm>
          <a:prstGeom prst="rect">
            <a:avLst/>
          </a:prstGeom>
          <a:solidFill>
            <a:schemeClr val="bg2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64008" cy="1874520"/>
          </a:xfrm>
          <a:prstGeom prst="rect">
            <a:avLst/>
          </a:prstGeom>
          <a:solidFill>
            <a:srgbClr val="C05808"/>
          </a:solidFill>
          <a:ln w="12700">
            <a:solidFill>
              <a:srgbClr val="C058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05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REWARD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3529584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intermediate rewards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±2.0 win / loss terminal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signal before the battle ends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493527" y="2895016"/>
            <a:ext cx="2863758" cy="1874520"/>
          </a:xfrm>
          <a:prstGeom prst="rect">
            <a:avLst/>
          </a:prstGeom>
          <a:solidFill>
            <a:schemeClr val="bg2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93527" y="2895016"/>
            <a:ext cx="64008" cy="1874520"/>
          </a:xfrm>
          <a:prstGeom prst="rect">
            <a:avLst/>
          </a:prstGeom>
          <a:solidFill>
            <a:srgbClr val="1A7840"/>
          </a:solidFill>
          <a:ln w="12700">
            <a:solidFill>
              <a:srgbClr val="1A78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11767" y="2965347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78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EPISODE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65966" y="3547872"/>
            <a:ext cx="272235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battle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~47 turns per game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episode starts fresh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a PPO policy that maximizes total expected reward over the course of a battle.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BF3DB8-EA1B-9C60-AF24-250512C56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316" y="1412748"/>
            <a:ext cx="2664244" cy="2575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6636" y="2764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C1C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16636" y="1234440"/>
            <a:ext cx="1719072" cy="1417320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51660" y="1307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51660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18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8076" y="1344168"/>
            <a:ext cx="1216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Pokémon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Showdown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" y="2103120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Node.js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server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35708" y="167335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/>
              <a:t>→</a:t>
            </a:r>
          </a:p>
        </p:txBody>
      </p:sp>
      <p:sp>
        <p:nvSpPr>
          <p:cNvPr id="12" name="Shape 10"/>
          <p:cNvSpPr/>
          <p:nvPr/>
        </p:nvSpPr>
        <p:spPr>
          <a:xfrm>
            <a:off x="2647188" y="1234440"/>
            <a:ext cx="1719072" cy="1417320"/>
          </a:xfrm>
          <a:prstGeom prst="rect">
            <a:avLst/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82212" y="1307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82212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4C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38628" y="1344168"/>
            <a:ext cx="1216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poke-env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38628" y="2103120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&amp; Env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66260" y="167335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</a:rPr>
              <a:t>→</a:t>
            </a:r>
          </a:p>
        </p:txBody>
      </p:sp>
      <p:sp>
        <p:nvSpPr>
          <p:cNvPr id="18" name="Shape 16"/>
          <p:cNvSpPr/>
          <p:nvPr/>
        </p:nvSpPr>
        <p:spPr>
          <a:xfrm>
            <a:off x="4777740" y="1234440"/>
            <a:ext cx="1719072" cy="1417320"/>
          </a:xfrm>
          <a:prstGeom prst="rect">
            <a:avLst/>
          </a:prstGeom>
          <a:solidFill>
            <a:srgbClr val="C05808"/>
          </a:solidFill>
          <a:ln w="12700">
            <a:solidFill>
              <a:srgbClr val="C0580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12764" y="1307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12764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5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9180" y="1344168"/>
            <a:ext cx="1216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Gymnasium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9180" y="2103120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+ reward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action mask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6812" y="167335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2"/>
                </a:solidFill>
              </a:rPr>
              <a:t>→</a:t>
            </a:r>
          </a:p>
        </p:txBody>
      </p:sp>
      <p:sp>
        <p:nvSpPr>
          <p:cNvPr id="24" name="Shape 22"/>
          <p:cNvSpPr/>
          <p:nvPr/>
        </p:nvSpPr>
        <p:spPr>
          <a:xfrm>
            <a:off x="6908292" y="1234440"/>
            <a:ext cx="1719072" cy="1417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43316" y="13075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43316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9732" y="1344168"/>
            <a:ext cx="1216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MaskablePPO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9732" y="2103120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value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(SB3)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40580" y="2907792"/>
            <a:ext cx="19933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40580" y="2907792"/>
            <a:ext cx="54864" cy="822960"/>
          </a:xfrm>
          <a:prstGeom prst="rect">
            <a:avLst/>
          </a:prstGeom>
          <a:solidFill>
            <a:srgbClr val="C05808"/>
          </a:solidFill>
          <a:ln w="12700">
            <a:solidFill>
              <a:srgbClr val="C058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2020" y="29443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5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Encoder + Action Mask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32020" y="329184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→ obs vector  /  legal actions → mask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37276" y="2651760"/>
            <a:ext cx="0" cy="256032"/>
          </a:xfrm>
          <a:prstGeom prst="line">
            <a:avLst/>
          </a:prstGeom>
          <a:noFill/>
          <a:ln w="19050">
            <a:solidFill>
              <a:srgbClr val="C058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72684" y="274320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5808"/>
                </a:solidFill>
              </a:rPr>
              <a:t>↑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" y="47548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converts raw battle data into the 839-dim observation vector consumed by the policy network.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C1C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Space &amp; Masking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Actions Per Turn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069080" cy="9067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64008" cy="906780"/>
          </a:xfrm>
          <a:prstGeom prst="rect">
            <a:avLst/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B4C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Actions 0 – 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3840480" cy="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bench Pokémon (slots 0 – 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64008" cy="914400"/>
          </a:xfrm>
          <a:prstGeom prst="rect">
            <a:avLst/>
          </a:prstGeom>
          <a:solidFill>
            <a:srgbClr val="C05808"/>
          </a:solidFill>
          <a:ln w="12700">
            <a:solidFill>
              <a:srgbClr val="C058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05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Actions 6 – 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2953512"/>
            <a:ext cx="3840480" cy="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move in slot 0, 1, 2, or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4069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1" y="3291840"/>
            <a:ext cx="64006" cy="914400"/>
          </a:xfrm>
          <a:prstGeom prst="rect">
            <a:avLst/>
          </a:prstGeom>
          <a:solidFill>
            <a:srgbClr val="52526A"/>
          </a:solidFill>
          <a:ln w="12700">
            <a:solidFill>
              <a:srgbClr val="5252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25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10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3840480" cy="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/ forced (recharge, no moves)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9050">
            <a:solidFill>
              <a:srgbClr val="E0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86868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Masking Matters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4023360" cy="1298448"/>
          </a:xfrm>
          <a:prstGeom prst="rect">
            <a:avLst/>
          </a:prstGeom>
          <a:solidFill>
            <a:srgbClr val="FBF0F0"/>
          </a:solidFill>
          <a:ln w="12700">
            <a:solidFill>
              <a:srgbClr val="CC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1371600"/>
            <a:ext cx="54864" cy="12984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56048" y="14264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 Without Masking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56048" y="182880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actions get sampled → noisy gradients → training diverges or fails entirely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834640"/>
            <a:ext cx="4023360" cy="1298448"/>
          </a:xfrm>
          <a:prstGeom prst="rect">
            <a:avLst/>
          </a:prstGeom>
          <a:solidFill>
            <a:srgbClr val="EFF7F2"/>
          </a:solidFill>
          <a:ln w="12700">
            <a:solidFill>
              <a:srgbClr val="1A7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2834640"/>
            <a:ext cx="54864" cy="1298448"/>
          </a:xfrm>
          <a:prstGeom prst="rect">
            <a:avLst/>
          </a:prstGeom>
          <a:solidFill>
            <a:srgbClr val="1A7840"/>
          </a:solidFill>
          <a:ln w="12700">
            <a:solidFill>
              <a:srgbClr val="1A7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56048" y="28895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78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With MaskablePPO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56048" y="329184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logits forced to −∞ → never sampled → stable, correct training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is a correctness feature AND a training-stability feature.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04088" y="196596"/>
            <a:ext cx="5803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Reward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04088" y="113080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rewards give earlier feedback;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signals shape the policy.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" y="1923288"/>
            <a:ext cx="2487168" cy="1298448"/>
          </a:xfrm>
          <a:prstGeom prst="rect">
            <a:avLst/>
          </a:prstGeom>
          <a:solidFill>
            <a:srgbClr val="222232"/>
          </a:solidFill>
          <a:ln w="19050">
            <a:solidFill>
              <a:srgbClr val="1A7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201472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+2.0</a:t>
            </a:r>
            <a:endParaRPr lang="en-US" sz="3600" dirty="0">
              <a:solidFill>
                <a:schemeClr val="accent6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88" y="272796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8416" y="1923288"/>
            <a:ext cx="2487168" cy="1298448"/>
          </a:xfrm>
          <a:prstGeom prst="rect">
            <a:avLst/>
          </a:prstGeom>
          <a:solidFill>
            <a:srgbClr val="222232"/>
          </a:solidFill>
          <a:ln w="19050">
            <a:solidFill>
              <a:srgbClr val="CC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28416" y="201472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−2.0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28416" y="272796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52744" y="1923288"/>
            <a:ext cx="2487168" cy="1298448"/>
          </a:xfrm>
          <a:prstGeom prst="rect">
            <a:avLst/>
          </a:prstGeom>
          <a:solidFill>
            <a:srgbClr val="222232"/>
          </a:solidFill>
          <a:ln w="19050">
            <a:solidFill>
              <a:schemeClr val="bg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52744" y="2014728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−1.0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52744" y="272796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/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" y="3358896"/>
            <a:ext cx="2487168" cy="1298448"/>
          </a:xfrm>
          <a:prstGeom prst="rect">
            <a:avLst/>
          </a:prstGeom>
          <a:solidFill>
            <a:srgbClr val="222232"/>
          </a:solidFill>
          <a:ln w="19050">
            <a:solidFill>
              <a:srgbClr val="E8B8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" y="345033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8B8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+0.25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" y="416356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KO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28416" y="3358896"/>
            <a:ext cx="2487168" cy="1298448"/>
          </a:xfrm>
          <a:prstGeom prst="rect">
            <a:avLst/>
          </a:prstGeom>
          <a:solidFill>
            <a:srgbClr val="222232"/>
          </a:solidFill>
          <a:ln w="19050">
            <a:solidFill>
              <a:srgbClr val="C0580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28416" y="345033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−0.25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28416" y="416356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KO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52744" y="3358896"/>
            <a:ext cx="2487168" cy="1298448"/>
          </a:xfrm>
          <a:prstGeom prst="rect">
            <a:avLst/>
          </a:prstGeom>
          <a:solidFill>
            <a:srgbClr val="222232"/>
          </a:solidFill>
          <a:ln w="19050">
            <a:solidFill>
              <a:srgbClr val="3B4CC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52744" y="345033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3B4C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±0.04×HP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952744" y="4163568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DAMAGE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115568"/>
            <a:ext cx="4853940" cy="4789932"/>
          </a:xfrm>
          <a:prstGeom prst="ellipse">
            <a:avLst/>
          </a:prstGeom>
          <a:solidFill>
            <a:srgbClr val="C00000"/>
          </a:solidFill>
          <a:ln w="38100">
            <a:solidFill>
              <a:srgbClr val="E4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C1C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Curriculum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75488" y="914400"/>
            <a:ext cx="237744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914400"/>
            <a:ext cx="2377440" cy="54864"/>
          </a:xfrm>
          <a:prstGeom prst="rect">
            <a:avLst/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16736" y="1078992"/>
            <a:ext cx="694944" cy="694944"/>
          </a:xfrm>
          <a:prstGeom prst="ellipse">
            <a:avLst/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16736" y="107899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5216" y="192024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B4C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vs Random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2648" y="2578608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from scratch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SimpleRandomBot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basic legal play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move fundamentals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2928" y="2139696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0E0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83280" y="914400"/>
            <a:ext cx="237744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0" y="914400"/>
            <a:ext cx="2377440" cy="54864"/>
          </a:xfrm>
          <a:prstGeom prst="rect">
            <a:avLst/>
          </a:prstGeom>
          <a:solidFill>
            <a:srgbClr val="C05808"/>
          </a:solidFill>
          <a:ln w="12700">
            <a:solidFill>
              <a:srgbClr val="C058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24528" y="1078992"/>
            <a:ext cx="694944" cy="694944"/>
          </a:xfrm>
          <a:prstGeom prst="ellipse">
            <a:avLst/>
          </a:prstGeom>
          <a:solidFill>
            <a:srgbClr val="C05808"/>
          </a:solidFill>
          <a:ln w="12700">
            <a:solidFill>
              <a:srgbClr val="C0580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24528" y="107899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93008" y="192024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05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vs Heuristic + Pool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20440" y="2578608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from Phase 1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stronger opponents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bot well-rounded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adaptable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2139696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0E0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291072" y="914400"/>
            <a:ext cx="237744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91072" y="914400"/>
            <a:ext cx="2377440" cy="54864"/>
          </a:xfrm>
          <a:prstGeom prst="rect">
            <a:avLst/>
          </a:prstGeom>
          <a:solidFill>
            <a:srgbClr val="1A7840"/>
          </a:solidFill>
          <a:ln w="12700">
            <a:solidFill>
              <a:srgbClr val="1A7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32320" y="1078992"/>
            <a:ext cx="694944" cy="694944"/>
          </a:xfrm>
          <a:prstGeom prst="ellipse">
            <a:avLst/>
          </a:prstGeom>
          <a:solidFill>
            <a:srgbClr val="1A7840"/>
          </a:solidFill>
          <a:ln w="12700">
            <a:solidFill>
              <a:srgbClr val="1A78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0" y="107899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0" y="1920240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78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3: Evaluation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28232" y="2578608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against any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opponent at any time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tracked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tqdm + logging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133088"/>
            <a:ext cx="8503920" cy="777240"/>
          </a:xfrm>
          <a:prstGeom prst="rect">
            <a:avLst/>
          </a:prstGeom>
          <a:solidFill>
            <a:srgbClr val="F0F0F8"/>
          </a:solidFill>
          <a:ln w="12700">
            <a:solidFill>
              <a:srgbClr val="E0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4133088"/>
            <a:ext cx="54864" cy="777240"/>
          </a:xfrm>
          <a:prstGeom prst="rect">
            <a:avLst/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17880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opponent becomes "solved." Starting easy builds a baseline policy, then harder opponents push it further.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67628" y="1321308"/>
            <a:ext cx="4389120" cy="438912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E4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C1C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Tracking Agents / Agent 29 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669280" y="886968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669280" y="886968"/>
            <a:ext cx="54864" cy="868680"/>
          </a:xfrm>
          <a:prstGeom prst="rect">
            <a:avLst/>
          </a:prstGeom>
          <a:solidFill>
            <a:srgbClr val="1A7840"/>
          </a:solidFill>
          <a:ln w="12700">
            <a:solidFill>
              <a:srgbClr val="1A7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97296" y="950976"/>
            <a:ext cx="1527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A78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97296" y="143560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470648" y="886968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70648" y="886968"/>
            <a:ext cx="54864" cy="868680"/>
          </a:xfrm>
          <a:prstGeom prst="rect">
            <a:avLst/>
          </a:prstGeom>
          <a:solidFill>
            <a:srgbClr val="3B4CCA"/>
          </a:solidFill>
          <a:ln w="12700">
            <a:solidFill>
              <a:srgbClr val="3B4C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598664" y="950976"/>
            <a:ext cx="1527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3B4C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18.4M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598664" y="143560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Timesteps Trained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1865376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69280" y="1865376"/>
            <a:ext cx="54864" cy="868680"/>
          </a:xfrm>
          <a:prstGeom prst="rect">
            <a:avLst/>
          </a:prstGeom>
          <a:solidFill>
            <a:srgbClr val="C05808"/>
          </a:solidFill>
          <a:ln w="12700">
            <a:solidFill>
              <a:srgbClr val="C058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797296" y="1929384"/>
            <a:ext cx="1527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05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 turns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797296" y="241401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Battle Length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470648" y="1865376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470648" y="1865376"/>
            <a:ext cx="54864" cy="868680"/>
          </a:xfrm>
          <a:prstGeom prst="rect">
            <a:avLst/>
          </a:prstGeom>
          <a:solidFill>
            <a:srgbClr val="52526A"/>
          </a:solidFill>
          <a:ln w="12700">
            <a:solidFill>
              <a:srgbClr val="5252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598664" y="1929384"/>
            <a:ext cx="1527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25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~0.021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598664" y="241401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0" y="2843784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669280" y="2843784"/>
            <a:ext cx="54864" cy="868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797296" y="2907792"/>
            <a:ext cx="1527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−0.49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797296" y="339242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Loss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470648" y="2843784"/>
            <a:ext cx="1691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470648" y="2843784"/>
            <a:ext cx="54864" cy="868680"/>
          </a:xfrm>
          <a:prstGeom prst="rect">
            <a:avLst/>
          </a:prstGeom>
          <a:solidFill>
            <a:srgbClr val="6038A0"/>
          </a:solidFill>
          <a:ln w="12700">
            <a:solidFill>
              <a:srgbClr val="603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598664" y="2907792"/>
            <a:ext cx="1527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603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0.56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598664" y="3392424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-1457481" y="47442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25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29 — the most trained and stable model: 18.4M+ timesteps over ~1.9 days.</a:t>
            </a: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674B690-FB28-CAFC-B7AF-5FC4EB2B9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90" y="1004501"/>
            <a:ext cx="4963218" cy="2800741"/>
          </a:xfrm>
          <a:prstGeom prst="rect">
            <a:avLst/>
          </a:prstGeom>
        </p:spPr>
      </p:pic>
      <p:sp>
        <p:nvSpPr>
          <p:cNvPr id="34" name="Text 28">
            <a:extLst>
              <a:ext uri="{FF2B5EF4-FFF2-40B4-BE49-F238E27FC236}">
                <a16:creationId xmlns:a16="http://schemas.microsoft.com/office/drawing/2014/main" id="{C98029CA-89D2-3138-56C5-947C15D132DC}"/>
              </a:ext>
            </a:extLst>
          </p:cNvPr>
          <p:cNvSpPr/>
          <p:nvPr/>
        </p:nvSpPr>
        <p:spPr>
          <a:xfrm>
            <a:off x="38100" y="4114707"/>
            <a:ext cx="5283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 err="1"/>
              <a:t>TensorBoard</a:t>
            </a:r>
            <a:r>
              <a:rPr lang="en-US" sz="1400" dirty="0"/>
              <a:t> is a visualization tool that lets you track and graph training metrics like reward, loss, and entropy in real time as your model learns.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11480" y="2286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Demo:</a:t>
            </a:r>
            <a:endParaRPr lang="en-US" sz="3400" dirty="0"/>
          </a:p>
          <a:p>
            <a:pPr marL="0" indent="0" algn="l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vs Bot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530352" cy="5303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0704" y="1591056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Pokémon Showdown locally (Node.js)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530352" cy="5303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60704" y="2414016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 connector — logs in the bot account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1480" y="3154680"/>
            <a:ext cx="530352" cy="5303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60704" y="3236976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localhost:8000 and challenge the bot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1480" y="3977640"/>
            <a:ext cx="530352" cy="53035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977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60704" y="4059936"/>
            <a:ext cx="3090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agent pick actions in real time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620099" y="1238621"/>
            <a:ext cx="4206240" cy="0"/>
          </a:xfrm>
          <a:prstGeom prst="line">
            <a:avLst/>
          </a:prstGeom>
          <a:noFill/>
          <a:ln w="25400">
            <a:solidFill>
              <a:srgbClr val="E8B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20099" y="3878279"/>
            <a:ext cx="4206240" cy="0"/>
          </a:xfrm>
          <a:prstGeom prst="line">
            <a:avLst/>
          </a:prstGeom>
          <a:noFill/>
          <a:ln w="25400">
            <a:solidFill>
              <a:srgbClr val="E8B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20099" y="1238622"/>
            <a:ext cx="0" cy="2639658"/>
          </a:xfrm>
          <a:prstGeom prst="line">
            <a:avLst/>
          </a:prstGeom>
          <a:noFill/>
          <a:ln w="25400">
            <a:solidFill>
              <a:srgbClr val="E8B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826338" y="1238621"/>
            <a:ext cx="16586" cy="2639658"/>
          </a:xfrm>
          <a:prstGeom prst="line">
            <a:avLst/>
          </a:prstGeom>
          <a:noFill/>
          <a:ln w="25400">
            <a:solidFill>
              <a:srgbClr val="E8B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 descr="How To Play Pokemon Showdown: Best Formats &amp; How To Build a Team - The  Escapist">
            <a:extLst>
              <a:ext uri="{FF2B5EF4-FFF2-40B4-BE49-F238E27FC236}">
                <a16:creationId xmlns:a16="http://schemas.microsoft.com/office/drawing/2014/main" id="{3AA67ED6-8AB8-AFD7-DF2C-B1E9393BE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081" y="1371600"/>
            <a:ext cx="3848275" cy="24051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C1C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886968"/>
            <a:ext cx="4041648" cy="512064"/>
          </a:xfrm>
          <a:prstGeom prst="rect">
            <a:avLst/>
          </a:prstGeom>
          <a:solidFill>
            <a:schemeClr val="bg2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886968"/>
            <a:ext cx="64008" cy="5120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18973"/>
            <a:ext cx="3813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81304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" y="1645920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591056"/>
            <a:ext cx="3721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 stability depends heavily on reward design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395728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340864"/>
            <a:ext cx="3721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Battles still have unfair type matchup luck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145536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090672"/>
            <a:ext cx="3721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limited by training distribution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895344"/>
            <a:ext cx="201168" cy="20116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721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poke-env / Showdown / SB3 APIs frequently change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9050">
            <a:solidFill>
              <a:srgbClr val="E0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8032" y="886968"/>
            <a:ext cx="4041648" cy="512064"/>
          </a:xfrm>
          <a:prstGeom prst="rect">
            <a:avLst/>
          </a:prstGeom>
          <a:solidFill>
            <a:schemeClr val="bg2"/>
          </a:solidFill>
          <a:ln w="9525">
            <a:solidFill>
              <a:srgbClr val="E0E0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82312" y="886968"/>
            <a:ext cx="64008" cy="512064"/>
          </a:xfrm>
          <a:prstGeom prst="rect">
            <a:avLst/>
          </a:prstGeom>
          <a:solidFill>
            <a:srgbClr val="1A7840"/>
          </a:solidFill>
          <a:ln w="12700">
            <a:solidFill>
              <a:srgbClr val="1A7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65192" y="914400"/>
            <a:ext cx="3813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78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65192" y="1508760"/>
            <a:ext cx="381304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782312" y="1645920"/>
            <a:ext cx="201168" cy="201168"/>
          </a:xfrm>
          <a:prstGeom prst="ellipse">
            <a:avLst/>
          </a:prstGeom>
          <a:solidFill>
            <a:srgbClr val="1A7840"/>
          </a:solidFill>
          <a:ln w="12700">
            <a:solidFill>
              <a:srgbClr val="1A7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02352" y="1591056"/>
            <a:ext cx="3721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 against evolving agent versions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82312" y="2514600"/>
            <a:ext cx="201168" cy="201168"/>
          </a:xfrm>
          <a:prstGeom prst="ellipse">
            <a:avLst/>
          </a:prstGeom>
          <a:solidFill>
            <a:srgbClr val="1A7840"/>
          </a:solidFill>
          <a:ln w="12700">
            <a:solidFill>
              <a:srgbClr val="1A7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02352" y="2459736"/>
            <a:ext cx="3721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training runs (50M+ timesteps)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82312" y="3383280"/>
            <a:ext cx="201168" cy="201168"/>
          </a:xfrm>
          <a:prstGeom prst="ellipse">
            <a:avLst/>
          </a:prstGeom>
          <a:solidFill>
            <a:srgbClr val="1A7840"/>
          </a:solidFill>
          <a:ln w="12700">
            <a:solidFill>
              <a:srgbClr val="1A7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02352" y="3328416"/>
            <a:ext cx="3721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obs space and reward shaping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11480" y="8229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411480" y="2971800"/>
            <a:ext cx="201168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30906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0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05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Dustin Boston  ·  Jonathan Navarro</a:t>
            </a:r>
            <a:endParaRPr lang="en-US" sz="14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227F4B8D-2217-EFEC-934D-D6A8F28F4971}"/>
              </a:ext>
            </a:extLst>
          </p:cNvPr>
          <p:cNvSpPr/>
          <p:nvPr/>
        </p:nvSpPr>
        <p:spPr>
          <a:xfrm>
            <a:off x="4206240" y="-2194560"/>
            <a:ext cx="8229600" cy="822960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B9205D15-47ED-356D-400A-813DE2B6FC84}"/>
              </a:ext>
            </a:extLst>
          </p:cNvPr>
          <p:cNvSpPr/>
          <p:nvPr/>
        </p:nvSpPr>
        <p:spPr>
          <a:xfrm>
            <a:off x="4206240" y="1883664"/>
            <a:ext cx="8229600" cy="201168"/>
          </a:xfrm>
          <a:prstGeom prst="rect">
            <a:avLst/>
          </a:prstGeom>
          <a:solidFill>
            <a:srgbClr val="18181F"/>
          </a:solidFill>
          <a:ln w="127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DF4BCDBD-726E-1074-091F-3089CE490F28}"/>
              </a:ext>
            </a:extLst>
          </p:cNvPr>
          <p:cNvSpPr/>
          <p:nvPr/>
        </p:nvSpPr>
        <p:spPr>
          <a:xfrm>
            <a:off x="7041542" y="831971"/>
            <a:ext cx="2558995" cy="251473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3CD5C79-5E70-150E-0904-5CC6FBC885F5}"/>
              </a:ext>
            </a:extLst>
          </p:cNvPr>
          <p:cNvSpPr/>
          <p:nvPr/>
        </p:nvSpPr>
        <p:spPr>
          <a:xfrm>
            <a:off x="7238913" y="1050002"/>
            <a:ext cx="2164247" cy="2069659"/>
          </a:xfrm>
          <a:prstGeom prst="ellipse">
            <a:avLst/>
          </a:prstGeom>
          <a:solidFill>
            <a:schemeClr val="tx1"/>
          </a:solidFill>
          <a:ln w="254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94949DA0-3619-36F4-9A9A-7A1D8A02766E}"/>
              </a:ext>
            </a:extLst>
          </p:cNvPr>
          <p:cNvSpPr/>
          <p:nvPr/>
        </p:nvSpPr>
        <p:spPr>
          <a:xfrm>
            <a:off x="7482735" y="1280358"/>
            <a:ext cx="1676602" cy="16200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81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699</Words>
  <Application>Microsoft Office PowerPoint</Application>
  <PresentationFormat>On-screen Show (16:9)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Pokemon AI</dc:title>
  <dc:subject>PptxGenJS Presentation</dc:subject>
  <dc:creator>PptxGenJS</dc:creator>
  <cp:lastModifiedBy>Jonathan Navarro</cp:lastModifiedBy>
  <cp:revision>9</cp:revision>
  <dcterms:created xsi:type="dcterms:W3CDTF">2026-05-11T01:41:37Z</dcterms:created>
  <dcterms:modified xsi:type="dcterms:W3CDTF">2026-05-11T05:26:01Z</dcterms:modified>
</cp:coreProperties>
</file>